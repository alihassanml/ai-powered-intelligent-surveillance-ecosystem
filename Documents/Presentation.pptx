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Arimo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20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926544"/>
            <a:ext cx="7468553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SmartSurv</a:t>
            </a: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: AI-Powered Intelligent Surveillance &amp; Real-Time Person Search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101584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presentation introduces SmartSurv, an innovative AI-driven intelligent surveillance system designed to revolutionize security monitoring and incident response.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74366" y="551906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850" dirty="0">
                <a:solidFill>
                  <a:schemeClr val="bg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Team Members</a:t>
            </a:r>
            <a:br>
              <a:rPr lang="en-US" sz="1850" dirty="0">
                <a:solidFill>
                  <a:schemeClr val="bg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</a:br>
            <a:r>
              <a:rPr lang="en-US" sz="1400" dirty="0">
                <a:solidFill>
                  <a:schemeClr val="bg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Faheem Khan	</a:t>
            </a:r>
            <a:r>
              <a:rPr lang="en-US" sz="1400" dirty="0">
                <a:solidFill>
                  <a:schemeClr val="bg1"/>
                </a:solidFill>
              </a:rPr>
              <a:t>(Fa-2022-BSCS-494)</a:t>
            </a:r>
            <a:br>
              <a:rPr lang="en-US" sz="1400" dirty="0">
                <a:solidFill>
                  <a:schemeClr val="bg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</a:br>
            <a:r>
              <a:rPr lang="en-US" sz="1400" dirty="0">
                <a:solidFill>
                  <a:schemeClr val="bg1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Ali Hassan	</a:t>
            </a:r>
            <a:r>
              <a:rPr lang="en-US" sz="1400" dirty="0">
                <a:solidFill>
                  <a:schemeClr val="bg1"/>
                </a:solidFill>
              </a:rPr>
              <a:t>(Fa-2022-BSCS-294)</a:t>
            </a:r>
          </a:p>
        </p:txBody>
      </p:sp>
      <p:sp>
        <p:nvSpPr>
          <p:cNvPr id="7" name="Text 4"/>
          <p:cNvSpPr/>
          <p:nvPr/>
        </p:nvSpPr>
        <p:spPr>
          <a:xfrm>
            <a:off x="6324123" y="683633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Supervisor: Muhammad Hams</a:t>
            </a:r>
            <a:endParaRPr lang="en-US" sz="1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76A785-C3C1-4F08-A61B-472D22176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17996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621" y="785932"/>
            <a:ext cx="10720507" cy="65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Abstract: Revolutionizing Surveillance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74621" y="1879521"/>
            <a:ext cx="6429851" cy="2494359"/>
          </a:xfrm>
          <a:prstGeom prst="roundRect">
            <a:avLst>
              <a:gd name="adj" fmla="val 1331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995958" y="2100858"/>
            <a:ext cx="664012" cy="664012"/>
          </a:xfrm>
          <a:prstGeom prst="roundRect">
            <a:avLst>
              <a:gd name="adj" fmla="val 13769458"/>
            </a:avLst>
          </a:prstGeom>
          <a:solidFill>
            <a:srgbClr val="806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600" y="2283500"/>
            <a:ext cx="298728" cy="2987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5958" y="2986207"/>
            <a:ext cx="3591520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Beyond Traditional CCTV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95958" y="3444359"/>
            <a:ext cx="5987177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Traditional CCTV systems rely on reactive, manual monitoring, leading to inefficiencies and missed incidents.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5809" y="1879521"/>
            <a:ext cx="6429970" cy="2494359"/>
          </a:xfrm>
          <a:prstGeom prst="roundRect">
            <a:avLst>
              <a:gd name="adj" fmla="val 1331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9" name="Shape 6"/>
          <p:cNvSpPr/>
          <p:nvPr/>
        </p:nvSpPr>
        <p:spPr>
          <a:xfrm>
            <a:off x="7647146" y="2100858"/>
            <a:ext cx="664012" cy="664012"/>
          </a:xfrm>
          <a:prstGeom prst="roundRect">
            <a:avLst>
              <a:gd name="adj" fmla="val 13769458"/>
            </a:avLst>
          </a:prstGeom>
          <a:solidFill>
            <a:srgbClr val="8061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9788" y="2283500"/>
            <a:ext cx="298728" cy="2987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7146" y="2986207"/>
            <a:ext cx="3176945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AI-Powered Detection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7647146" y="3444359"/>
            <a:ext cx="5987296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SmartSurv leverages cutting-edge AI for real-time threat detection and analysis, automating crucial security tasks.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74621" y="4595217"/>
            <a:ext cx="6429851" cy="2848451"/>
          </a:xfrm>
          <a:prstGeom prst="roundRect">
            <a:avLst>
              <a:gd name="adj" fmla="val 1166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4" name="Shape 10"/>
          <p:cNvSpPr/>
          <p:nvPr/>
        </p:nvSpPr>
        <p:spPr>
          <a:xfrm>
            <a:off x="995958" y="4816554"/>
            <a:ext cx="664012" cy="664012"/>
          </a:xfrm>
          <a:prstGeom prst="roundRect">
            <a:avLst>
              <a:gd name="adj" fmla="val 13769458"/>
            </a:avLst>
          </a:prstGeom>
          <a:solidFill>
            <a:srgbClr val="8061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8600" y="4999196"/>
            <a:ext cx="298728" cy="2987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5958" y="5701903"/>
            <a:ext cx="2604016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Core Capabilities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95958" y="6160056"/>
            <a:ext cx="5987177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Features include person re-identification, advanced threat detection, and multimodal analysis for comprehensive coverage.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5809" y="4595217"/>
            <a:ext cx="6429970" cy="2848451"/>
          </a:xfrm>
          <a:prstGeom prst="roundRect">
            <a:avLst>
              <a:gd name="adj" fmla="val 1166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9" name="Shape 14"/>
          <p:cNvSpPr/>
          <p:nvPr/>
        </p:nvSpPr>
        <p:spPr>
          <a:xfrm>
            <a:off x="7647146" y="4816554"/>
            <a:ext cx="664012" cy="664012"/>
          </a:xfrm>
          <a:prstGeom prst="roundRect">
            <a:avLst>
              <a:gd name="adj" fmla="val 13769458"/>
            </a:avLst>
          </a:prstGeom>
          <a:solidFill>
            <a:srgbClr val="8061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9788" y="4999196"/>
            <a:ext cx="298728" cy="2987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47146" y="5701903"/>
            <a:ext cx="3118604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Automated Response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7647146" y="6160056"/>
            <a:ext cx="5987296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system automates alerts, evidence generation, and continuous monitoring, significantly enhancing security protocols.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277" y="0"/>
            <a:ext cx="6324123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704017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Introduction: The Evolution of Surveillance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17504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CCTV systems are ubiquitous in both public and private sectors, yet their effectiveness is often limited by human factors.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421028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CCTV is a cornerstone of modern security in diverse environments.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5060037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Human monitoring is prone to fatigue, leading to missed incidents and delayed responses.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5909786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escalating rates of urban crime necessitate more advanced, automated surveillance solutions.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6759535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integration transforms surveillance from passive observation to proactive, intelligent threat detection.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8327"/>
            <a:ext cx="1173920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Crime &amp; Safety Challenges in Pakistan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76701"/>
            <a:ext cx="753939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Significant surge in street crimes, robberies, and harassment cases across urban centers.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026450"/>
            <a:ext cx="753939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Overpopulation strains security resources, limiting effective human monitoring capabilities.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876199"/>
            <a:ext cx="753939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Many incidents are recorded post-event, failing to provide real-time prevention.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725948"/>
            <a:ext cx="753939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Slow response times allow perpetrators to escape, reducing accountability and deterrence.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707380"/>
            <a:ext cx="753939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These challenges highlight an urgent need for an automated and proactive surveillance system to enhance public safety.</a:t>
            </a:r>
            <a:endParaRPr lang="en-US" sz="1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621" y="2230517"/>
            <a:ext cx="4831556" cy="4831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287" y="606266"/>
            <a:ext cx="13087826" cy="1296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Statement: Limitations of Traditional Systems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71287" y="2343031"/>
            <a:ext cx="4215765" cy="2692003"/>
          </a:xfrm>
          <a:prstGeom prst="roundRect">
            <a:avLst>
              <a:gd name="adj" fmla="val 5435"/>
            </a:avLst>
          </a:prstGeom>
          <a:solidFill>
            <a:schemeClr val="accent1">
              <a:lumMod val="75000"/>
            </a:schemeClr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807" y="2343031"/>
            <a:ext cx="121920" cy="2692003"/>
          </a:xfrm>
          <a:prstGeom prst="roundRect">
            <a:avLst>
              <a:gd name="adj" fmla="val 27113"/>
            </a:avLst>
          </a:prstGeom>
          <a:solidFill>
            <a:srgbClr val="8061FF"/>
          </a:solidFill>
          <a:ln/>
        </p:spPr>
      </p:sp>
      <p:sp>
        <p:nvSpPr>
          <p:cNvPr id="5" name="Text 3"/>
          <p:cNvSpPr/>
          <p:nvPr/>
        </p:nvSpPr>
        <p:spPr>
          <a:xfrm>
            <a:off x="1113473" y="2593777"/>
            <a:ext cx="2675811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Passive &amp; Reactive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3473" y="3050024"/>
            <a:ext cx="3622834" cy="141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Current CCTV systems primarily act as passive recording devices, offering reactive insights rather than proactive prevention.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7318" y="2343031"/>
            <a:ext cx="4215765" cy="2692003"/>
          </a:xfrm>
          <a:prstGeom prst="roundRect">
            <a:avLst>
              <a:gd name="adj" fmla="val 5435"/>
            </a:avLst>
          </a:prstGeom>
          <a:solidFill>
            <a:schemeClr val="accent1">
              <a:lumMod val="75000"/>
            </a:schemeClr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6838" y="2343031"/>
            <a:ext cx="121920" cy="2692003"/>
          </a:xfrm>
          <a:prstGeom prst="roundRect">
            <a:avLst>
              <a:gd name="adj" fmla="val 27113"/>
            </a:avLst>
          </a:prstGeom>
          <a:solidFill>
            <a:srgbClr val="8061FF"/>
          </a:solidFill>
          <a:ln/>
        </p:spPr>
      </p:sp>
      <p:sp>
        <p:nvSpPr>
          <p:cNvPr id="9" name="Text 7"/>
          <p:cNvSpPr/>
          <p:nvPr/>
        </p:nvSpPr>
        <p:spPr>
          <a:xfrm>
            <a:off x="5549503" y="2593777"/>
            <a:ext cx="2592586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Human Factors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49503" y="3050024"/>
            <a:ext cx="3622834" cy="141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Manual monitoring is plagued by delays, human fatigue, and a high potential for errors, compromising security effectiveness.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43348" y="2343031"/>
            <a:ext cx="4215765" cy="2692003"/>
          </a:xfrm>
          <a:prstGeom prst="roundRect">
            <a:avLst>
              <a:gd name="adj" fmla="val 5435"/>
            </a:avLst>
          </a:prstGeom>
          <a:solidFill>
            <a:schemeClr val="accent1">
              <a:lumMod val="75000"/>
            </a:schemeClr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2868" y="2343031"/>
            <a:ext cx="121920" cy="2692003"/>
          </a:xfrm>
          <a:prstGeom prst="roundRect">
            <a:avLst>
              <a:gd name="adj" fmla="val 27113"/>
            </a:avLst>
          </a:prstGeom>
          <a:solidFill>
            <a:srgbClr val="8061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85534" y="2593777"/>
            <a:ext cx="3622834" cy="64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 Real-time Threat Detection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985534" y="3374112"/>
            <a:ext cx="3622834" cy="141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critical absence of automatic real-time threat detection capabilities leaves systems vulnerable to immediate threats.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1287" y="5255300"/>
            <a:ext cx="4215765" cy="2367915"/>
          </a:xfrm>
          <a:prstGeom prst="roundRect">
            <a:avLst>
              <a:gd name="adj" fmla="val 6179"/>
            </a:avLst>
          </a:prstGeom>
          <a:solidFill>
            <a:schemeClr val="accent1">
              <a:lumMod val="75000"/>
            </a:schemeClr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807" y="5255300"/>
            <a:ext cx="121920" cy="2367915"/>
          </a:xfrm>
          <a:prstGeom prst="roundRect">
            <a:avLst>
              <a:gd name="adj" fmla="val 27113"/>
            </a:avLst>
          </a:prstGeom>
          <a:solidFill>
            <a:srgbClr val="8061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13473" y="5506045"/>
            <a:ext cx="2592586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Limited Tracking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13473" y="5962293"/>
            <a:ext cx="3622834" cy="141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Lack of seamless cross-camera tracking hinders effective suspect identification and pursuit across different surveillance zones.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207318" y="5255300"/>
            <a:ext cx="4215765" cy="2367915"/>
          </a:xfrm>
          <a:prstGeom prst="roundRect">
            <a:avLst>
              <a:gd name="adj" fmla="val 6179"/>
            </a:avLst>
          </a:prstGeom>
          <a:solidFill>
            <a:schemeClr val="accent1">
              <a:lumMod val="75000"/>
            </a:schemeClr>
          </a:solidFill>
          <a:ln w="30480">
            <a:solidFill>
              <a:srgbClr val="4442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76838" y="5255300"/>
            <a:ext cx="121920" cy="2367915"/>
          </a:xfrm>
          <a:prstGeom prst="roundRect">
            <a:avLst>
              <a:gd name="adj" fmla="val 27113"/>
            </a:avLst>
          </a:prstGeom>
          <a:solidFill>
            <a:srgbClr val="8061FF"/>
          </a:solidFill>
          <a:ln/>
        </p:spPr>
      </p:sp>
      <p:sp>
        <p:nvSpPr>
          <p:cNvPr id="21" name="Text 19"/>
          <p:cNvSpPr/>
          <p:nvPr/>
        </p:nvSpPr>
        <p:spPr>
          <a:xfrm>
            <a:off x="5549503" y="5506045"/>
            <a:ext cx="262961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Unimodal Analysis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49503" y="5962293"/>
            <a:ext cx="3622834" cy="141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Traditional systems often lack multimodal (audio + visual) detection, missing crucial cues that could enhance threat assessment.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9268" y="820341"/>
            <a:ext cx="7525464" cy="204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Literature Review: Foundations of SmartSurv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809268" y="3207425"/>
            <a:ext cx="7525464" cy="7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SmartSurv builds upon a strong foundation of existing research, leveraging advancements in AI and computer vision.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9268" y="4207312"/>
            <a:ext cx="7525464" cy="7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YOLO (You Only Look Once) and CNN (Convolutional Neural Networks) are proven effective for violence and weapon detection.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09268" y="5028009"/>
            <a:ext cx="7525464" cy="7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Deep learning techniques significantly improve the accuracy and robustness of person re-identification systems.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9268" y="5848707"/>
            <a:ext cx="7525464" cy="7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Audio-visual fusion strategies are crucial for reducing false alarms and enhancing threat assessment.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9268" y="6669405"/>
            <a:ext cx="7525464" cy="7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While high-accuracy systems exist globally, their real-time deployment in regions like Pakistan remains a significant challenge.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74834"/>
            <a:ext cx="11991142" cy="59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Bridging the Gap: What Current Systems Lack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76030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4764" y="1778556"/>
            <a:ext cx="2731532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Human Dependency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24764" y="2198013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Excessive reliance on human operators introduces inconsistencies and limitations in surveillance efficacy.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791778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4764" y="2994303"/>
            <a:ext cx="2749391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 Automated Alerts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924764" y="3413760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Absence of automated alert mechanisms means critical incidents are not flagged in real-time, delaying response.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07525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24764" y="4210050"/>
            <a:ext cx="2833211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Single-Camera Focus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924764" y="4629507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Lack of multi-camera person tracking limits comprehensive surveillance across larger areas.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23272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24764" y="5425797"/>
            <a:ext cx="3173730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Limited Audio Detection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924764" y="5845254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Inadequate audio-based threat detection leaves a critical sensory gap in threat identification.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39019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24764" y="6641544"/>
            <a:ext cx="2383988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Privacy Oversight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924764" y="7061002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Existing systems often fail to incorporate privacy-preserving features, leading to ethical and legal concerns.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0642" y="611148"/>
            <a:ext cx="7935516" cy="1015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Proposed Solution: SmartSurv - The Future of Security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090642" y="1885712"/>
            <a:ext cx="793551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SmartSurv addresses critical gaps in traditional surveillance by integrating advanced AI capabilities for comprehensive security.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90642" y="2632353"/>
            <a:ext cx="7935516" cy="978932"/>
          </a:xfrm>
          <a:prstGeom prst="roundRect">
            <a:avLst>
              <a:gd name="adj" fmla="val 42333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6" name="Text 3"/>
          <p:cNvSpPr/>
          <p:nvPr/>
        </p:nvSpPr>
        <p:spPr>
          <a:xfrm>
            <a:off x="6263283" y="2804993"/>
            <a:ext cx="2477929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AI-Powered Detection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63283" y="3162419"/>
            <a:ext cx="759023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identification of violence, weapons, and harassment through sophisticated AI models.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90642" y="3783925"/>
            <a:ext cx="7935516" cy="1255157"/>
          </a:xfrm>
          <a:prstGeom prst="roundRect">
            <a:avLst>
              <a:gd name="adj" fmla="val 33017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9" name="Text 6"/>
          <p:cNvSpPr/>
          <p:nvPr/>
        </p:nvSpPr>
        <p:spPr>
          <a:xfrm>
            <a:off x="6263283" y="3956566"/>
            <a:ext cx="2721650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Person Re-Identification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63283" y="4313992"/>
            <a:ext cx="759023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Seamless person search and tracking across an entire camera network for rapid suspect identification.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90642" y="5211723"/>
            <a:ext cx="7935516" cy="978932"/>
          </a:xfrm>
          <a:prstGeom prst="roundRect">
            <a:avLst>
              <a:gd name="adj" fmla="val 42333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2" name="Text 9"/>
          <p:cNvSpPr/>
          <p:nvPr/>
        </p:nvSpPr>
        <p:spPr>
          <a:xfrm>
            <a:off x="6263283" y="5384363"/>
            <a:ext cx="2031325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Automated Alerts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263283" y="5741789"/>
            <a:ext cx="759023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Instant notifications to authorities via WhatsApp and email for immediate incident response.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090642" y="6363295"/>
            <a:ext cx="7935516" cy="1255157"/>
          </a:xfrm>
          <a:prstGeom prst="roundRect">
            <a:avLst>
              <a:gd name="adj" fmla="val 33017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5" name="Text 12"/>
          <p:cNvSpPr/>
          <p:nvPr/>
        </p:nvSpPr>
        <p:spPr>
          <a:xfrm>
            <a:off x="6263283" y="6535936"/>
            <a:ext cx="2347555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Evidence Generation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263283" y="6893362"/>
            <a:ext cx="759023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Automatic creation of annotated evidence clips, streamlining post-incident analysis and legal proceedings.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8877" y="423386"/>
            <a:ext cx="7677031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SmartSurv: Core Features &amp; Innovation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538877" y="1280160"/>
            <a:ext cx="346353" cy="346353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4" name="Text 2"/>
          <p:cNvSpPr/>
          <p:nvPr/>
        </p:nvSpPr>
        <p:spPr>
          <a:xfrm>
            <a:off x="603349" y="1317427"/>
            <a:ext cx="217289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39178" y="1333024"/>
            <a:ext cx="2401491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Illegal Activity Detection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9178" y="1713309"/>
            <a:ext cx="6088261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Detects fights, weapon presence, and other suspicious activities with high accuracy.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8877" y="2267426"/>
            <a:ext cx="346353" cy="346353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8" name="Text 6"/>
          <p:cNvSpPr/>
          <p:nvPr/>
        </p:nvSpPr>
        <p:spPr>
          <a:xfrm>
            <a:off x="603349" y="2304693"/>
            <a:ext cx="217289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39178" y="2320290"/>
            <a:ext cx="2374344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Cross-Camera Tracking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9178" y="2700576"/>
            <a:ext cx="6088261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Enables continuous monitoring of individuals across various camera feeds.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8877" y="3254693"/>
            <a:ext cx="346353" cy="346353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12" name="Text 10"/>
          <p:cNvSpPr/>
          <p:nvPr/>
        </p:nvSpPr>
        <p:spPr>
          <a:xfrm>
            <a:off x="603349" y="3291959"/>
            <a:ext cx="217289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39178" y="3307556"/>
            <a:ext cx="2041922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Audio + Video Fusion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9178" y="3687842"/>
            <a:ext cx="6088261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Combines visual and auditory cues for enhanced threat assessment and reduced false positives.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8877" y="4488180"/>
            <a:ext cx="346353" cy="346353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16" name="Text 14"/>
          <p:cNvSpPr/>
          <p:nvPr/>
        </p:nvSpPr>
        <p:spPr>
          <a:xfrm>
            <a:off x="603349" y="4525447"/>
            <a:ext cx="217289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39178" y="4541044"/>
            <a:ext cx="2025610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Instant Notifications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9178" y="4921329"/>
            <a:ext cx="6088261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Alerts authorities promptly through integrated communication channels.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8877" y="5475446"/>
            <a:ext cx="346353" cy="346353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20" name="Text 18"/>
          <p:cNvSpPr/>
          <p:nvPr/>
        </p:nvSpPr>
        <p:spPr>
          <a:xfrm>
            <a:off x="603349" y="5512713"/>
            <a:ext cx="217289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39178" y="5528310"/>
            <a:ext cx="1871901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Privacy-Preserving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39178" y="5908596"/>
            <a:ext cx="6088261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Incorporates selective face blurring to balance security with individual privacy rights.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8877" y="6462713"/>
            <a:ext cx="346353" cy="346353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24" name="Text 22"/>
          <p:cNvSpPr/>
          <p:nvPr/>
        </p:nvSpPr>
        <p:spPr>
          <a:xfrm>
            <a:off x="603349" y="6499979"/>
            <a:ext cx="217289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6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39178" y="6515576"/>
            <a:ext cx="2544366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Lightweight Data Logging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39178" y="6895862"/>
            <a:ext cx="6088261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Utilizes a JSON database for efficient and organized storage of event logs.</a:t>
            </a: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582" y="1280160"/>
            <a:ext cx="6588562" cy="6588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23" y="639053"/>
            <a:ext cx="6081355" cy="433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Workflow / Architecture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17" y="1152394"/>
            <a:ext cx="13486209" cy="5815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9533" y="5857844"/>
            <a:ext cx="2879414" cy="359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Tracking &amp; Re-ID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79533" y="4511625"/>
            <a:ext cx="2879414" cy="359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479533" y="3179004"/>
            <a:ext cx="2879414" cy="359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479533" y="1832784"/>
            <a:ext cx="2879414" cy="359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Video Feed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16017" y="8378785"/>
            <a:ext cx="135983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Event logging and evidence generation capture and annotate critical incidents.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16017" y="8666083"/>
            <a:ext cx="135983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notifications are dispatched via various APIs for rapid response.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16017" y="8953381"/>
            <a:ext cx="135983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user-friendly dashboard (developed with Streamlit/React) provides real-time oversight.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217570-116B-AABF-98B2-47D106DDFA6E}"/>
              </a:ext>
            </a:extLst>
          </p:cNvPr>
          <p:cNvSpPr txBox="1"/>
          <p:nvPr/>
        </p:nvSpPr>
        <p:spPr>
          <a:xfrm>
            <a:off x="1165609" y="529661"/>
            <a:ext cx="7847762" cy="6412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Expected Outcomes &amp; Impact</a:t>
            </a:r>
          </a:p>
          <a:p>
            <a:pPr>
              <a:lnSpc>
                <a:spcPct val="150000"/>
              </a:lnSpc>
              <a:buNone/>
            </a:pPr>
            <a:endParaRPr lang="en-US" sz="1600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Deliverables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Fully functional prototype with real-time detection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Unique search-by-photo person detection across cameras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Web-based dashboard with live monitoring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alert and evidence management system</a:t>
            </a:r>
          </a:p>
          <a:p>
            <a:pPr>
              <a:lnSpc>
                <a:spcPct val="150000"/>
              </a:lnSpc>
              <a:buNone/>
            </a:pPr>
            <a:endParaRPr lang="en-US" sz="1600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Social Impact</a:t>
            </a:r>
            <a:endParaRPr lang="en-US" sz="1600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Reduced incident response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Improved safety in public spaces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Enhanced law enforcement efficiency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Data-driven security insights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Proactive crime prevention vs reactive investigation</a:t>
            </a:r>
          </a:p>
          <a:p>
            <a:pPr>
              <a:lnSpc>
                <a:spcPct val="150000"/>
              </a:lnSpc>
              <a:buNone/>
            </a:pPr>
            <a:br>
              <a:rPr lang="en-US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E05703-38CC-D361-5F46-27CDA8E7F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407" y="0"/>
            <a:ext cx="6440993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22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2F576-1F83-AD78-5DD5-3A17E3DED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5D52C6-8203-A319-9A6A-E4580AE3FAF4}"/>
              </a:ext>
            </a:extLst>
          </p:cNvPr>
          <p:cNvSpPr txBox="1"/>
          <p:nvPr/>
        </p:nvSpPr>
        <p:spPr>
          <a:xfrm>
            <a:off x="331595" y="736207"/>
            <a:ext cx="634051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32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Future Enhancements &amp; Conclusion</a:t>
            </a:r>
          </a:p>
          <a:p>
            <a:pPr>
              <a:buNone/>
            </a:pPr>
            <a:r>
              <a:rPr lang="en-US" sz="32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Beyond the Prototype</a:t>
            </a:r>
          </a:p>
          <a:p>
            <a:pPr>
              <a:buNone/>
            </a:pPr>
            <a:br>
              <a:rPr lang="en-US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Future Roadmap</a:t>
            </a:r>
            <a:endParaRPr lang="en-US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Mobile app for live alerts and manual confirmation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City-wide deployment with incident heatmaps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Integration with missing persons/criminal databases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Unsupervised anomaly detection for unknown threats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Cloud-based scalability for multi-city deployment</a:t>
            </a:r>
          </a:p>
          <a:p>
            <a:pPr>
              <a:buNone/>
            </a:pPr>
            <a:br>
              <a:rPr lang="en-US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>
              <a:buNone/>
            </a:pPr>
            <a:r>
              <a:rPr lang="en-US" sz="1600" b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SmartSurv</a:t>
            </a: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transforms surveillance from </a:t>
            </a:r>
            <a:r>
              <a:rPr lang="en-US" sz="16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reactive to proactive</a:t>
            </a:r>
            <a:r>
              <a:rPr lang="en-US" sz="1600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By combining real-time crime detection, search-by-photo tracking, and audio-visual fusion, it represents the next generation of intelligent public safety systems—directly addressing Pakistan's urban security challenges while paving the way for smart city applications.</a:t>
            </a:r>
          </a:p>
          <a:p>
            <a:pPr>
              <a:buNone/>
            </a:pPr>
            <a:endParaRPr lang="en-US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8D6146-0C9C-33EC-511C-7657A32C8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458" y="1264249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12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970</Words>
  <Application>Microsoft Office PowerPoint</Application>
  <PresentationFormat>Custom</PresentationFormat>
  <Paragraphs>128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Wingdings</vt:lpstr>
      <vt:lpstr>Arimo</vt:lpstr>
      <vt:lpstr>Syne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Ali Hassan</cp:lastModifiedBy>
  <cp:revision>8</cp:revision>
  <dcterms:created xsi:type="dcterms:W3CDTF">2025-11-17T17:26:45Z</dcterms:created>
  <dcterms:modified xsi:type="dcterms:W3CDTF">2025-11-17T20:42:38Z</dcterms:modified>
</cp:coreProperties>
</file>